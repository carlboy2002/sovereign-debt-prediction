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32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80" y="685800"/>
            <a:ext cx="72237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4200" b="1">
                <a:solidFill>
                  <a:srgbClr val="FFFFFF"/>
                </a:solidFill>
                <a:latin typeface="Aptos"/>
              </a:rPr>
              <a:t>Beyond Official Statistics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828800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100" b="0">
                <a:solidFill>
                  <a:srgbClr val="DCE8F5"/>
                </a:solidFill>
                <a:latin typeface="Aptos"/>
              </a:rPr>
              <a:t>Predicting sovereign debt crises with macro data, satellite nightlights, and news text</a:t>
            </a:r>
          </a:p>
        </p:txBody>
      </p:sp>
      <p:sp>
        <p:nvSpPr>
          <p:cNvPr id="10" name="Shape 10"/>
          <p:cNvSpPr/>
          <p:nvPr/>
        </p:nvSpPr>
        <p:spPr>
          <a:xfrm>
            <a:off x="685800" y="306324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50392" y="3209544"/>
            <a:ext cx="209397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COUNTRIES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50392" y="344728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0F766E"/>
                </a:solidFill>
                <a:latin typeface="Aptos"/>
              </a:rPr>
              <a:t>129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50392" y="3849624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Low- and middle-income economies</a:t>
            </a:r>
          </a:p>
        </p:txBody>
      </p:sp>
      <p:sp>
        <p:nvSpPr>
          <p:cNvPr id="20" name="Shape 20"/>
          <p:cNvSpPr/>
          <p:nvPr/>
        </p:nvSpPr>
        <p:spPr>
          <a:xfrm>
            <a:off x="3337560" y="306324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3502152" y="3209544"/>
            <a:ext cx="209397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MAIN AP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502152" y="344728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B7791F"/>
                </a:solidFill>
                <a:latin typeface="Aptos"/>
              </a:rPr>
              <a:t>0.519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502152" y="3849624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Macro + Satellite validation</a:t>
            </a:r>
          </a:p>
        </p:txBody>
      </p:sp>
      <p:sp>
        <p:nvSpPr>
          <p:cNvPr id="30" name="Shape 30"/>
          <p:cNvSpPr/>
          <p:nvPr/>
        </p:nvSpPr>
        <p:spPr>
          <a:xfrm>
            <a:off x="5989320" y="306324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6153912" y="3209544"/>
            <a:ext cx="209397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BEST AUC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53912" y="344728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9F2842"/>
                </a:solidFill>
                <a:latin typeface="Aptos"/>
              </a:rPr>
              <a:t>0.904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153912" y="3849624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All Features robustness model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139421" y="6547104"/>
            <a:ext cx="5052579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300" b="0" dirty="0">
                <a:solidFill>
                  <a:srgbClr val="DCE8F5"/>
                </a:solidFill>
                <a:latin typeface="Aptos"/>
              </a:rPr>
              <a:t>Columbia SIPA - DSPC7100 Applying Machine Learning - Spring 2026</a:t>
            </a:r>
          </a:p>
        </p:txBody>
      </p:sp>
      <p:sp>
        <p:nvSpPr>
          <p:cNvPr id="6" name="Text 50">
            <a:extLst>
              <a:ext uri="{FF2B5EF4-FFF2-40B4-BE49-F238E27FC236}">
                <a16:creationId xmlns:a16="http://schemas.microsoft.com/office/drawing/2014/main" id="{0F393162-C09F-51C3-2B16-C9132AD03CE1}"/>
              </a:ext>
            </a:extLst>
          </p:cNvPr>
          <p:cNvSpPr txBox="1"/>
          <p:nvPr/>
        </p:nvSpPr>
        <p:spPr>
          <a:xfrm>
            <a:off x="685800" y="49423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DCE8F5"/>
                </a:solidFill>
                <a:latin typeface="Aptos"/>
              </a:rPr>
              <a:t>Team: Jinen Wang, Levi Liu, Wuhao Xia, </a:t>
            </a:r>
            <a:r>
              <a:rPr lang="en-US" sz="1400" b="1" dirty="0" err="1">
                <a:solidFill>
                  <a:srgbClr val="DCE8F5"/>
                </a:solidFill>
                <a:latin typeface="Aptos"/>
              </a:rPr>
              <a:t>Chenyi</a:t>
            </a:r>
            <a:r>
              <a:rPr lang="en-US" sz="1400" b="1" dirty="0">
                <a:solidFill>
                  <a:srgbClr val="DCE8F5"/>
                </a:solidFill>
                <a:latin typeface="Aptos"/>
              </a:rPr>
              <a:t> Jiang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9324D"/>
                </a:solidFill>
                <a:latin typeface="Aptos"/>
              </a:rPr>
              <a:t>Problem and Data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960120"/>
            <a:ext cx="1054381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b="0" dirty="0">
                <a:solidFill>
                  <a:srgbClr val="172033"/>
                </a:solidFill>
                <a:latin typeface="Aptos"/>
              </a:rPr>
              <a:t>Official crisis-warning systems depend on statistics that arrive late, are revised, and can be strategically reported by distressed governments.</a:t>
            </a:r>
          </a:p>
        </p:txBody>
      </p:sp>
      <p:sp>
        <p:nvSpPr>
          <p:cNvPr id="5" name="Shape 5"/>
          <p:cNvSpPr/>
          <p:nvPr/>
        </p:nvSpPr>
        <p:spPr>
          <a:xfrm>
            <a:off x="594360" y="1965960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22960" y="2176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b="1">
                <a:solidFill>
                  <a:srgbClr val="19324D"/>
                </a:solidFill>
                <a:latin typeface="Aptos"/>
              </a:rPr>
              <a:t>World Bank WDI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22960" y="2633472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GDP growth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Inflation, reserves, debt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Official baseline</a:t>
            </a:r>
          </a:p>
        </p:txBody>
      </p:sp>
      <p:sp>
        <p:nvSpPr>
          <p:cNvPr id="10" name="Shape 10"/>
          <p:cNvSpPr/>
          <p:nvPr/>
        </p:nvSpPr>
        <p:spPr>
          <a:xfrm>
            <a:off x="4251960" y="1965960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4480560" y="2176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b="1">
                <a:solidFill>
                  <a:srgbClr val="19324D"/>
                </a:solidFill>
                <a:latin typeface="Aptos"/>
              </a:rPr>
              <a:t>VIIRS Nightlights</a:t>
            </a:r>
          </a:p>
        </p:txBody>
      </p:sp>
      <p:sp>
        <p:nvSpPr>
          <p:cNvPr id="12" name="Bullets 12"/>
          <p:cNvSpPr txBox="1"/>
          <p:nvPr/>
        </p:nvSpPr>
        <p:spPr>
          <a:xfrm>
            <a:off x="4480560" y="2633472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Observed activity proxy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Growth and volatility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GDP-light divergence</a:t>
            </a:r>
          </a:p>
        </p:txBody>
      </p:sp>
      <p:sp>
        <p:nvSpPr>
          <p:cNvPr id="15" name="Shape 15"/>
          <p:cNvSpPr/>
          <p:nvPr/>
        </p:nvSpPr>
        <p:spPr>
          <a:xfrm>
            <a:off x="7909560" y="1965960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8138160" y="2176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b="1">
                <a:solidFill>
                  <a:srgbClr val="19324D"/>
                </a:solidFill>
                <a:latin typeface="Aptos"/>
              </a:rPr>
              <a:t>GDELT News Text</a:t>
            </a:r>
          </a:p>
        </p:txBody>
      </p:sp>
      <p:sp>
        <p:nvSpPr>
          <p:cNvPr id="17" name="Bullets 17"/>
          <p:cNvSpPr txBox="1"/>
          <p:nvPr/>
        </p:nvSpPr>
        <p:spPr>
          <a:xfrm>
            <a:off x="8138160" y="2633472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Media tone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Conflict and protest events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Debt and IMF mentions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700" b="1">
                <a:solidFill>
                  <a:srgbClr val="172033"/>
                </a:solidFill>
                <a:latin typeface="Aptos"/>
              </a:rPr>
              <a:t>Unit: country-year panel, 2000-2023. Target: crisis onset within the next three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9324D"/>
                </a:solidFill>
                <a:latin typeface="Aptos"/>
              </a:rPr>
              <a:t>Approach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594360" y="1005840"/>
            <a:ext cx="5394960" cy="2926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Strict lag-only features: no current-year macro, satellite, or text values enter the model.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Nested XGBoost specifications quantify the incremental value of satellite and text signals.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LASSO provides a sparse, interpretable baseline.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SHAP, fairness audit, and misreporting index support interpretation.</a:t>
            </a:r>
          </a:p>
        </p:txBody>
      </p:sp>
      <p:sp>
        <p:nvSpPr>
          <p:cNvPr id="10" name="Shape 10"/>
          <p:cNvSpPr/>
          <p:nvPr/>
        </p:nvSpPr>
        <p:spPr>
          <a:xfrm>
            <a:off x="6400800" y="987552"/>
            <a:ext cx="4846320" cy="42459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6675120" y="12344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19324D"/>
                </a:solidFill>
                <a:latin typeface="Aptos"/>
              </a:rPr>
              <a:t>Validation design</a:t>
            </a:r>
          </a:p>
        </p:txBody>
      </p:sp>
      <p:sp>
        <p:nvSpPr>
          <p:cNvPr id="12" name="Bullets 12"/>
          <p:cNvSpPr txBox="1"/>
          <p:nvPr/>
        </p:nvSpPr>
        <p:spPr>
          <a:xfrm>
            <a:off x="6629400" y="1737360"/>
            <a:ext cx="434340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Train: years through 2018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Out-of-time validation: 2019-2020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Rolling-origin checks across five historical windows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172033"/>
                </a:solidFill>
                <a:latin typeface="Aptos"/>
              </a:rPr>
              <a:t>2021-2023 is right-censored under a three-year target</a:t>
            </a:r>
          </a:p>
        </p:txBody>
      </p:sp>
      <p:sp>
        <p:nvSpPr>
          <p:cNvPr id="25" name="Shape 25"/>
          <p:cNvSpPr/>
          <p:nvPr/>
        </p:nvSpPr>
        <p:spPr>
          <a:xfrm>
            <a:off x="6720840" y="3401760"/>
            <a:ext cx="2057400" cy="12966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6885432" y="3548065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 dirty="0">
                <a:solidFill>
                  <a:srgbClr val="5A6578"/>
                </a:solidFill>
                <a:latin typeface="Aptos"/>
              </a:rPr>
              <a:t>FEATURE BLOCKS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885432" y="3785809"/>
            <a:ext cx="172821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0F766E"/>
                </a:solidFill>
                <a:latin typeface="Aptos"/>
              </a:rPr>
              <a:t>92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885432" y="4188145"/>
            <a:ext cx="1728216" cy="45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candidate lag-only features</a:t>
            </a:r>
          </a:p>
        </p:txBody>
      </p:sp>
      <p:sp>
        <p:nvSpPr>
          <p:cNvPr id="35" name="Shape 35"/>
          <p:cNvSpPr/>
          <p:nvPr/>
        </p:nvSpPr>
        <p:spPr>
          <a:xfrm>
            <a:off x="9006840" y="3401761"/>
            <a:ext cx="1874519" cy="1296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 txBox="1"/>
          <p:nvPr/>
        </p:nvSpPr>
        <p:spPr>
          <a:xfrm>
            <a:off x="9171432" y="3548065"/>
            <a:ext cx="154533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MODELS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9171432" y="3785809"/>
            <a:ext cx="154533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B7791F"/>
                </a:solidFill>
                <a:latin typeface="Aptos"/>
              </a:rPr>
              <a:t>4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9171432" y="4188145"/>
            <a:ext cx="1545335" cy="45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nested XGBoost specs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9324D"/>
                </a:solidFill>
                <a:latin typeface="Aptos"/>
              </a:rPr>
              <a:t>Results</a:t>
            </a:r>
          </a:p>
        </p:txBody>
      </p:sp>
      <p:sp>
        <p:nvSpPr>
          <p:cNvPr id="5" name="Shape 5"/>
          <p:cNvSpPr/>
          <p:nvPr/>
        </p:nvSpPr>
        <p:spPr>
          <a:xfrm>
            <a:off x="594360" y="10058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58952" y="115214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MACRO ONLY AP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58952" y="1389888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5A6578"/>
                </a:solidFill>
                <a:latin typeface="Aptos"/>
              </a:rPr>
              <a:t>0.461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58952" y="179222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official baseline</a:t>
            </a:r>
          </a:p>
        </p:txBody>
      </p:sp>
      <p:sp>
        <p:nvSpPr>
          <p:cNvPr id="10" name="Shape 10"/>
          <p:cNvSpPr/>
          <p:nvPr/>
        </p:nvSpPr>
        <p:spPr>
          <a:xfrm>
            <a:off x="3154680" y="10058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3319272" y="115214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MACRO + SATELLITE AP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319272" y="1389888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0F766E"/>
                </a:solidFill>
                <a:latin typeface="Aptos"/>
              </a:rPr>
              <a:t>0.519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319272" y="179222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preferred main model</a:t>
            </a:r>
          </a:p>
        </p:txBody>
      </p:sp>
      <p:sp>
        <p:nvSpPr>
          <p:cNvPr id="15" name="Shape 15"/>
          <p:cNvSpPr/>
          <p:nvPr/>
        </p:nvSpPr>
        <p:spPr>
          <a:xfrm>
            <a:off x="5715000" y="10058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5879592" y="115214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ALL FEATURES AUC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879592" y="1389888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B7791F"/>
                </a:solidFill>
                <a:latin typeface="Aptos"/>
              </a:rPr>
              <a:t>0.904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879592" y="179222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robustness model</a:t>
            </a:r>
          </a:p>
        </p:txBody>
      </p:sp>
      <p:sp>
        <p:nvSpPr>
          <p:cNvPr id="20" name="Shape 20"/>
          <p:cNvSpPr/>
          <p:nvPr/>
        </p:nvSpPr>
        <p:spPr>
          <a:xfrm>
            <a:off x="8275320" y="10058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8439912" y="115214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b="1">
                <a:solidFill>
                  <a:srgbClr val="5A6578"/>
                </a:solidFill>
                <a:latin typeface="Aptos"/>
              </a:rPr>
              <a:t>ROLLING MEAN AP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439912" y="1389888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9F2842"/>
                </a:solidFill>
                <a:latin typeface="Aptos"/>
              </a:rPr>
              <a:t>0.366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439912" y="1792224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b="0">
                <a:solidFill>
                  <a:srgbClr val="5A6578"/>
                </a:solidFill>
                <a:latin typeface="Aptos"/>
              </a:rPr>
              <a:t>Macro + Satellite</a:t>
            </a:r>
          </a:p>
        </p:txBody>
      </p:sp>
      <p:pic>
        <p:nvPicPr>
          <p:cNvPr id="30" name="ROC"/>
          <p:cNvPicPr/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5029200" cy="3063240"/>
          </a:xfrm>
          <a:prstGeom prst="rect">
            <a:avLst/>
          </a:prstGeom>
        </p:spPr>
      </p:pic>
      <p:sp>
        <p:nvSpPr>
          <p:cNvPr id="40" name="Text 40"/>
          <p:cNvSpPr txBox="1"/>
          <p:nvPr/>
        </p:nvSpPr>
        <p:spPr>
          <a:xfrm>
            <a:off x="6217920" y="25146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19324D"/>
                </a:solidFill>
                <a:latin typeface="Aptos"/>
              </a:rPr>
              <a:t>Main interpretation</a:t>
            </a:r>
          </a:p>
        </p:txBody>
      </p:sp>
      <p:sp>
        <p:nvSpPr>
          <p:cNvPr id="41" name="Bullets 41"/>
          <p:cNvSpPr txBox="1"/>
          <p:nvPr/>
        </p:nvSpPr>
        <p:spPr>
          <a:xfrm>
            <a:off x="6263640" y="2971800"/>
            <a:ext cx="4709160" cy="1965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Satellite signals deliver the most stable improvement in rare-crisis precision.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Text features add signal, but performance is less stable across windows.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All Features ranks well by AUC, but average precision is weaker than Macro + Satellite.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9324D"/>
                </a:solidFill>
                <a:latin typeface="Aptos"/>
              </a:rPr>
              <a:t>Next Steps</a:t>
            </a:r>
          </a:p>
        </p:txBody>
      </p:sp>
      <p:sp>
        <p:nvSpPr>
          <p:cNvPr id="3" name="Shape 3"/>
          <p:cNvSpPr/>
          <p:nvPr/>
        </p:nvSpPr>
        <p:spPr>
          <a:xfrm>
            <a:off x="594360" y="1051560"/>
            <a:ext cx="5166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868680" y="132588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19324D"/>
                </a:solidFill>
                <a:latin typeface="Aptos"/>
              </a:rPr>
              <a:t>What we have now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2960" y="1783080"/>
            <a:ext cx="457200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A reproducible multimodal early-warning pipeline.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A country-level misreporting index requested in TA feedback.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Fairness diagnostics and region-specific threshold checks.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A transparent account of sensor, text, and label limitations.</a:t>
            </a:r>
          </a:p>
        </p:txBody>
      </p:sp>
      <p:sp>
        <p:nvSpPr>
          <p:cNvPr id="10" name="Shape 10"/>
          <p:cNvSpPr/>
          <p:nvPr/>
        </p:nvSpPr>
        <p:spPr>
          <a:xfrm>
            <a:off x="6172200" y="1051560"/>
            <a:ext cx="5166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6446520" y="132588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 b="1">
                <a:solidFill>
                  <a:srgbClr val="19324D"/>
                </a:solidFill>
                <a:latin typeface="Aptos"/>
              </a:rPr>
              <a:t>Most valuable next steps</a:t>
            </a:r>
          </a:p>
        </p:txBody>
      </p:sp>
      <p:sp>
        <p:nvSpPr>
          <p:cNvPr id="12" name="Bullets 12"/>
          <p:cNvSpPr txBox="1"/>
          <p:nvPr/>
        </p:nvSpPr>
        <p:spPr>
          <a:xfrm>
            <a:off x="6400800" y="1783080"/>
            <a:ext cx="457200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Extend crisis labels through 2026 for a clean 2021-2023 test.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Harmonize DMSP and VIIRS to recover a longer satellite history.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Validate misreporting flags with IMF Article IV and case evidence.</a:t>
            </a:r>
          </a:p>
          <a:p>
            <a:pPr marL="285750" indent="-171450">
              <a:buChar char="•"/>
            </a:pPr>
            <a:r>
              <a:rPr lang="en-US" sz="1600">
                <a:solidFill>
                  <a:srgbClr val="172033"/>
                </a:solidFill>
                <a:latin typeface="Aptos"/>
              </a:rPr>
              <a:t>Use the model as decision support, not automated surveillance.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31520" y="56692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00" b="1">
                <a:solidFill>
                  <a:srgbClr val="19324D"/>
                </a:solidFill>
                <a:latin typeface="Aptos"/>
              </a:rPr>
              <a:t>Bottom line: alternative data helps, especially satellite nightlights, but the responsible claim is predictive early warning with transparent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404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Official Statistics</dc:title>
  <dc:creator>DSPC7100 Final Project Team</dc:creator>
  <cp:lastModifiedBy>Wuhao Xia</cp:lastModifiedBy>
  <cp:revision>5</cp:revision>
  <dcterms:modified xsi:type="dcterms:W3CDTF">2026-04-25T15:33:38Z</dcterms:modified>
</cp:coreProperties>
</file>